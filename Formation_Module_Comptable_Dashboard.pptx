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91E42"/>
                </a:solidFill>
              </a:rPr>
              <a:t>Formation Utilisateur</a:t>
            </a:r>
          </a:p>
          <a:p>
            <a:r>
              <a:t>Module Comptable Core Banking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Guide Pratique des 6 Fonctionnalités Clés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Sommaire de la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module comptable est 100% complet et prêt à l'emploi. Nous verrons :</a:t>
            </a:r>
          </a:p>
          <a:p>
            <a:pPr lvl="1"/>
            <a:r>
              <a:t>1. Le Plan Comptable (Chart of Accounts)</a:t>
            </a:r>
          </a:p>
          <a:p>
            <a:pPr lvl="1"/>
            <a:r>
              <a:t>2. Les Exercices et Périodes (Fiscal Year)</a:t>
            </a:r>
          </a:p>
          <a:p>
            <a:pPr lvl="1"/>
            <a:r>
              <a:t>3. Le Grand Livre (General Ledger)</a:t>
            </a:r>
          </a:p>
          <a:p>
            <a:pPr lvl="1"/>
            <a:r>
              <a:t>4. La Balance de Vérification (Trial Balance)</a:t>
            </a:r>
          </a:p>
          <a:p>
            <a:pPr lvl="1"/>
            <a:r>
              <a:t>5. La Réconciliation Bancaire (Bank Reconciliation)</a:t>
            </a:r>
          </a:p>
          <a:p>
            <a:pPr lvl="1"/>
            <a:r>
              <a:t>6. Les États Financiers (Financial Statements)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1. Le Plan Comptable (Chart of Accounts)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cœur de du paramétrage comptable :</a:t>
            </a:r>
          </a:p>
          <a:p>
            <a:pPr lvl="1"/>
            <a:r>
              <a:t>Structure hiérarchique : Gestion des comptes parents et enfants.</a:t>
            </a:r>
          </a:p>
          <a:p>
            <a:pPr lvl="1"/>
            <a:r>
              <a:t>5 Types de comptes de base : Actif (Asset), Passif (Liability), Capitaux (Equity), Produits (Revenue), Charges (Expense).</a:t>
            </a:r>
          </a:p>
          <a:p>
            <a:pPr lvl="1"/>
            <a:r>
              <a:t>Sécurité : Intégration de comptes systèmes protégés contre les modifications.</a:t>
            </a:r>
          </a:p>
          <a:p>
            <a:pPr lvl="1"/>
            <a:r>
              <a:t>Recherche : Outils de recherche et filtrage intégrés.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2. Exercices et Périodes (Fiscal Year)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Gestion du temps et cadre des opérations :</a:t>
            </a:r>
          </a:p>
          <a:p>
            <a:pPr lvl="1"/>
            <a:r>
              <a:t>Création Automatique : La création d'un exercice génère automatiquement les périodes mensuelles correspondantes.</a:t>
            </a:r>
          </a:p>
          <a:p>
            <a:pPr lvl="1"/>
            <a:r>
              <a:t>Contrôle d'Alerte : Activation et désactivation d'exercices (un seul actif à la fois).</a:t>
            </a:r>
          </a:p>
          <a:p>
            <a:pPr lvl="1"/>
            <a:r>
              <a:t>Sécurité des données : Processus de clôture strict avec validation pour empêcher les modifications rétroactives.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3. Le Grand Livre (General Ledger)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Historique et Suivi des Transactions :</a:t>
            </a:r>
          </a:p>
          <a:p>
            <a:pPr lvl="1"/>
            <a:r>
              <a:t>Automatisation : Le Grand Livre est généré automatiquement depuis les transactions bancaires (zéro saisie manuelle requise !).</a:t>
            </a:r>
          </a:p>
          <a:p>
            <a:pPr lvl="1"/>
            <a:r>
              <a:t>Analyse : Consultation détaillée par compte, par période ou par date précise.</a:t>
            </a:r>
          </a:p>
          <a:p>
            <a:pPr lvl="1"/>
            <a:r>
              <a:t>Calcul en temps réel : Les soldes sont calculés dynamiquement.</a:t>
            </a:r>
          </a:p>
          <a:p>
            <a:pPr lvl="1"/>
            <a:r>
              <a:t>Export : Interface préparée pour exporter les données.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4. Balance de Vérification (Trial Balance)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Validation et Équilibre :</a:t>
            </a:r>
          </a:p>
          <a:p>
            <a:pPr lvl="1"/>
            <a:r>
              <a:t>Calcul Automatique : Regroupe les soldes de tous les comptes pour une période donnée.</a:t>
            </a:r>
          </a:p>
          <a:p>
            <a:pPr lvl="1"/>
            <a:r>
              <a:t>Continuité : Les soldes d'ouverture reprennent exactement la période de clôture de la période précédente.</a:t>
            </a:r>
          </a:p>
          <a:p>
            <a:pPr lvl="1"/>
            <a:r>
              <a:t>Contrôle Intégrité : Le système valide instantanément si Total Débits = Total Crédits.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5. Réconciliation Bancaire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Alignement Banque vs Comptabilité :</a:t>
            </a:r>
          </a:p>
          <a:p>
            <a:pPr lvl="1"/>
            <a:r>
              <a:t>Saisie et Automatisation : Saisie du solde bancaire puis calcul automatique du solde comptable interne.</a:t>
            </a:r>
          </a:p>
          <a:p>
            <a:pPr lvl="1"/>
            <a:r>
              <a:t>Gains de temps : Outil de pointage automatique pour rapprocher les opérations.</a:t>
            </a:r>
          </a:p>
          <a:p>
            <a:pPr lvl="1"/>
            <a:r>
              <a:t>Résolution : Pointage manuel pour traiter les exceptions et gestion des écarts avant validation finale.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6. États Financiers (Financial Statements)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Rapports finaux et prise de décision :</a:t>
            </a:r>
          </a:p>
          <a:p>
            <a:pPr lvl="1"/>
            <a:r>
              <a:t>Livrables : Bilan (Balance Sheet), Compte de Résultat (Income Statement), Flux de Trésorerie (Cash Flow).</a:t>
            </a:r>
          </a:p>
          <a:p>
            <a:pPr lvl="1"/>
            <a:r>
              <a:t>Cycle de vie : Brouillon -&gt; Visualisation Détaillée -&gt; Approbation -&gt; Finalisation.</a:t>
            </a:r>
          </a:p>
          <a:p>
            <a:pPr lvl="1"/>
            <a:r>
              <a:t>Prêt pour l'intégration : Conçu spécifiquement pour supporter les principes AAOIFI (séparation des fonds islamiques/conventionnels).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 module comptable 100% fonctionnel, automatisé,</a:t>
            </a:r>
          </a:p>
          <a:p>
            <a:r>
              <a:t>et conforme aux exigences.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