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>
                <a:solidFill>
                  <a:srgbClr val="091E42"/>
                </a:solidFill>
              </a:rPr>
              <a:t>Formation Complète</a:t>
            </a:r>
          </a:p>
          <a:p>
            <a:r>
              <a:t>Module Comptable &amp; Finance Islamique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Core Banking System</a:t>
            </a:r>
          </a:p>
          <a:p>
            <a:r>
              <a:t>Guide d'utilisation et bonnes pratiques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Agenda de la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1. Introduction et Architecture du Module</a:t>
            </a:r>
          </a:p>
          <a:p>
            <a:pPr>
              <a:defRPr sz="2000"/>
            </a:pPr>
            <a:r>
              <a:t>2. Plan Comptable &amp; Conformité SFD UMOA</a:t>
            </a:r>
          </a:p>
          <a:p>
            <a:pPr>
              <a:defRPr sz="2000"/>
            </a:pPr>
            <a:r>
              <a:t>3. Gestion des Exercices et Périodes</a:t>
            </a:r>
          </a:p>
          <a:p>
            <a:pPr>
              <a:defRPr sz="2000"/>
            </a:pPr>
            <a:r>
              <a:t>4. Saisie des Écritures Comptables</a:t>
            </a:r>
          </a:p>
          <a:p>
            <a:pPr>
              <a:defRPr sz="2000"/>
            </a:pPr>
            <a:r>
              <a:t>5. Le Grand Livre et la Balance de Vérification</a:t>
            </a:r>
          </a:p>
          <a:p>
            <a:pPr>
              <a:defRPr sz="2000"/>
            </a:pPr>
            <a:r>
              <a:t>6. Réconciliation Bancaire</a:t>
            </a:r>
          </a:p>
          <a:p>
            <a:pPr>
              <a:defRPr sz="2000"/>
            </a:pPr>
            <a:r>
              <a:t>7. États Financiers &amp; Clôture</a:t>
            </a:r>
          </a:p>
          <a:p>
            <a:pPr>
              <a:defRPr sz="2000"/>
            </a:pPr>
            <a:r>
              <a:t>8. Spécificités de la Finance Islamique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</a:t>
            </a:r>
          </a:p>
          <a:p>
            <a:r>
              <a:t>Introduction &amp; Architecture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Architecture Générale du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Un système unifié pour gérer toute la comptabilité :</a:t>
            </a:r>
          </a:p>
          <a:p>
            <a:pPr lvl="1"/>
            <a:r>
              <a:t>Comptabilité en partie double stricte.</a:t>
            </a:r>
          </a:p>
          <a:p>
            <a:pPr lvl="1"/>
            <a:r>
              <a:t>Génération automatique d'écritures depuis les transactions.</a:t>
            </a:r>
          </a:p>
          <a:p>
            <a:pPr lvl="1"/>
            <a:r>
              <a:t>Séparation stricte des fonds (Islamiques vs Conventionnels).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Prise en charge multi-normes :</a:t>
            </a:r>
          </a:p>
          <a:p>
            <a:pPr lvl="1"/>
            <a:r>
              <a:t>Conformité SFD UMOA</a:t>
            </a:r>
          </a:p>
          <a:p>
            <a:pPr lvl="1"/>
            <a:r>
              <a:t>Normes AAOIFI (Finance Islamique)</a:t>
            </a:r>
          </a:p>
          <a:p>
            <a:pPr lvl="1"/>
            <a:r>
              <a:t>Rapports réglementaires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</a:t>
            </a:r>
          </a:p>
          <a:p>
            <a:r>
              <a:t>Plan Comptable &amp; SFD UMOA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La Structure SFD UMOA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plan comptable est découpé en 9 classes réglementaires :</a:t>
            </a:r>
          </a:p>
          <a:p>
            <a:pPr lvl="1"/>
            <a:r>
              <a:t>Classes 1-5 : Comptes de Bilan (Ex: Classe 1 = Capitaux, Classe 2 = Immos, Classe 3 = Crédits, Classe 4 = Dépôts)</a:t>
            </a:r>
          </a:p>
          <a:p>
            <a:pPr lvl="1"/>
            <a:r>
              <a:t>Classes 6-7 : Comptes de Résultat (Charges et Produits)</a:t>
            </a:r>
          </a:p>
          <a:p>
            <a:pPr lvl="1"/>
            <a:r>
              <a:t>Classe 8 : Comptes de Soldes de Gestion</a:t>
            </a:r>
          </a:p>
          <a:p>
            <a:pPr lvl="1"/>
            <a:r>
              <a:t>Classe 9 : Comptes Hors Bilan (Engagements donnés et reçus)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Gestion Hiérarchique des Comptes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Chaque compte est défini par un niveau de granularité :</a:t>
            </a:r>
          </a:p>
          <a:p>
            <a:pPr lvl="1"/>
            <a:r>
              <a:t>Niveau 1 : Classe (Ex: 3 - Opérations avec les clients)</a:t>
            </a:r>
          </a:p>
          <a:p>
            <a:pPr lvl="1"/>
            <a:r>
              <a:t>Niveau 2 : Chapitre (Ex: 31 - Crédits à court terme)</a:t>
            </a:r>
          </a:p>
          <a:p>
            <a:pPr lvl="1"/>
            <a:r>
              <a:t>Niveau 3 : Compte Principal (Ex: 311 - Crédits de trésorerie)</a:t>
            </a:r>
          </a:p>
          <a:p>
            <a:pPr lvl="1"/>
            <a:r>
              <a:t>Niveau 4-6 : Comptes Divisionnaires et Sous-comptes (Ex: 3111 - Murabaha court terme)</a:t>
            </a:r>
          </a:p>
          <a:p>
            <a:r>
              <a:t>Impact : Permet une agrégation automatique des données pour les états financiers.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</a:t>
            </a:r>
          </a:p>
          <a:p>
            <a:r>
              <a:t>Exercices et Périodes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Cycle de Vie d'un Exercice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 temps comptable est strictement contrôlé :</a:t>
            </a:r>
          </a:p>
          <a:p>
            <a:pPr lvl="1"/>
            <a:r>
              <a:t>Étape 1 : Création. Définit l'année fiscale. Génère automatiquement les 12 mois.</a:t>
            </a:r>
          </a:p>
          <a:p>
            <a:pPr lvl="1"/>
            <a:r>
              <a:t>Étape 2 : Activation. Un seul exercice ne peut être actif à la fois. C'est l'exercice par défaut pour les écritures.</a:t>
            </a:r>
          </a:p>
          <a:p>
            <a:pPr lvl="1"/>
            <a:r>
              <a:t>Étape 3 : Clôture Mensuelle. Verrouille un mois pour empêcher toute modification rétroactive.</a:t>
            </a:r>
          </a:p>
          <a:p>
            <a:pPr lvl="1"/>
            <a:r>
              <a:t>Étape 4 : Clôture Annuelle. Processus irréversible nécessitant l'approbation d'un ADMIN.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</a:t>
            </a:r>
          </a:p>
          <a:p>
            <a:r>
              <a:t>Écritures Comptables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Saisie en Partie Double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Toute opération impacte au minimum deux comptes :</a:t>
            </a:r>
          </a:p>
          <a:p>
            <a:pPr lvl="1"/>
            <a:r>
              <a:t>Le système vérifie toujours que : Somme des Débits = Somme des Crédits.</a:t>
            </a:r>
          </a:p>
          <a:p>
            <a:pPr lvl="1"/>
            <a:r>
              <a:t>Enregistrement manuel : L'utilisateur sélectionne la période, la date, et chaque ligne comptable.</a:t>
            </a:r>
          </a:p>
          <a:p>
            <a:pPr lvl="1"/>
            <a:r>
              <a:t>Enregistrement automatique : Le Core Banking génère les écritures lors des décaissements, remboursements, etc.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5</a:t>
            </a:r>
          </a:p>
          <a:p>
            <a:r>
              <a:t>Analyses, Grand Livre et Balance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Le Grand Livre et La Balance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Le Grand Livre</a:t>
            </a:r>
          </a:p>
          <a:p>
            <a:pPr lvl="1"/>
            <a:r>
              <a:t>Vue détaillée opération par opération.</a:t>
            </a:r>
          </a:p>
          <a:p>
            <a:pPr lvl="1"/>
            <a:r>
              <a:t>Permet de retracer l'histoire d'un compte précis sur une période donnée.</a:t>
            </a:r>
          </a:p>
          <a:p>
            <a:pPr lvl="1"/>
            <a:r>
              <a:t>Affiche le calcul en dynamique du solde cumulatif (utile pour la recherche d'erreurs).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La Balance de Vérification</a:t>
            </a:r>
          </a:p>
          <a:p>
            <a:pPr lvl="1"/>
            <a:r>
              <a:t>Vue macroscopique et résumée.</a:t>
            </a:r>
          </a:p>
          <a:p>
            <a:pPr lvl="1"/>
            <a:r>
              <a:t>Affiche les totaux Débit/Crédit et le solde net de chaque compte.</a:t>
            </a:r>
          </a:p>
          <a:p>
            <a:pPr lvl="1"/>
            <a:r>
              <a:t>Outil clé avant de générer les états financiers (Bilan, Compte de Résultat).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6</a:t>
            </a:r>
          </a:p>
          <a:p>
            <a:r>
              <a:t>Réconciliation Bancaire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52CC"/>
                </a:solidFill>
              </a:rPr>
              <a:t>La Réconciliation en 4 Étapes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Assurer l'alignement entre les écritures internes et le relevé de la banque correspondante :</a:t>
            </a:r>
          </a:p>
          <a:p>
            <a:pPr lvl="1"/>
            <a:r>
              <a:t>1. Saisie des données : Choix du compte, de la période, et saisie du solde final du relevé bancaire.</a:t>
            </a:r>
          </a:p>
          <a:p>
            <a:pPr lvl="1"/>
            <a:r>
              <a:t>2. Rapprochement automatique : Le système pointe les montants, dates et références identiques.</a:t>
            </a:r>
          </a:p>
          <a:p>
            <a:pPr lvl="1"/>
            <a:r>
              <a:t>3. Pointage manuel : Investigation et rapprochement manuel des écarts (frais bancaires, erreurs).</a:t>
            </a:r>
          </a:p>
          <a:p>
            <a:pPr lvl="1"/>
            <a:r>
              <a:t>4. Finalisation : L'écart (Delta) doit être de 0. L'enregistrement comptable des frais est ajouté si nécessaire.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7</a:t>
            </a:r>
          </a:p>
          <a:p>
            <a:r>
              <a:t>Spécificités Finance Islamique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009688"/>
                </a:solidFill>
              </a:rPr>
              <a:t>Conformité Sharia &amp; AAOIFI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Séparation des Fonds</a:t>
            </a:r>
          </a:p>
          <a:p>
            <a:pPr lvl="1"/>
            <a:r>
              <a:t>Les fonds Islamiques et Conventionnels ne doivent jamais être mélangés.</a:t>
            </a:r>
          </a:p>
          <a:p>
            <a:pPr lvl="1"/>
            <a:r>
              <a:t>Traçabilité distincte avec des classes comptables isolées.</a:t>
            </a:r>
          </a:p>
          <a:p>
            <a:pPr lvl="1"/>
            <a:r>
              <a:t>Gestion stricte de la Zakat (calcul sur les comptes éligibles).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Traitement des Produits</a:t>
            </a:r>
          </a:p>
          <a:p>
            <a:pPr lvl="1"/>
            <a:r>
              <a:t>Murabaha : Comptabilisation de la marge bénéficiaire séparément du principal.</a:t>
            </a:r>
          </a:p>
          <a:p>
            <a:pPr lvl="1"/>
            <a:r>
              <a:t>Ijara : Amortissements spécifiques et comptabilisation des revenus locatifs.</a:t>
            </a:r>
          </a:p>
          <a:p>
            <a:pPr lvl="1"/>
            <a:r>
              <a:t>Musharaka : Partage des profits/pertes au prorata des apports.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>
                <a:solidFill>
                  <a:srgbClr val="0052CC"/>
                </a:solidFill>
              </a:rPr>
              <a:t>Des questions ?</a:t>
            </a:r>
          </a:p>
          <a:p/>
          <a:p>
            <a:r>
              <a:rPr>
                <a:solidFill>
                  <a:srgbClr val="0052CC"/>
                </a:solidFill>
              </a:rPr>
              <a:t>Merci de votre attention.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