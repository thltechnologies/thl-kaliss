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>
                <a:solidFill>
                  <a:srgbClr val="091E42"/>
                </a:solidFill>
              </a:rPr>
              <a:t>Formation Module Comptable</a:t>
            </a:r>
          </a:p>
          <a:p>
            <a:r>
              <a:t>Fonctionnalités actuelles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Core Banking – Dashboard Comptabilité</a:t>
            </a:r>
          </a:p>
          <a:p>
            <a:r>
              <a:t>Séance de formation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52CC"/>
                </a:solidFill>
              </a:rPr>
              <a:t>Objectifs de la séance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Connaître l’accès et la structure du module Comptabilité</a:t>
            </a:r>
          </a:p>
          <a:p>
            <a:pPr>
              <a:defRPr sz="1600"/>
            </a:pPr>
            <a:r>
              <a:t>• Utiliser le Plan Comptable, les Journaux et les Exercices</a:t>
            </a:r>
          </a:p>
          <a:p>
            <a:pPr>
              <a:defRPr sz="1600"/>
            </a:pPr>
            <a:r>
              <a:t>• Saisir et consulter les écritures comptables (manuelles et automatiques)</a:t>
            </a:r>
          </a:p>
          <a:p>
            <a:pPr>
              <a:defRPr sz="1600"/>
            </a:pPr>
            <a:r>
              <a:t>• Effectuer les opérations sur comptes internes et prélèvements de capitaux</a:t>
            </a:r>
          </a:p>
          <a:p>
            <a:pPr>
              <a:defRPr sz="1600"/>
            </a:pPr>
            <a:r>
              <a:t>• Générer le Grand Livre et la Balance de Vérification</a:t>
            </a:r>
          </a:p>
          <a:p>
            <a:pPr>
              <a:defRPr sz="1600"/>
            </a:pPr>
            <a:r>
              <a:t>• Produire les États Financiers et gérer la Réconciliation Bancaire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52CC"/>
                </a:solidFill>
              </a:rPr>
              <a:t>Accès au module Comptabilité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Navigation</a:t>
            </a:r>
          </a:p>
          <a:p>
            <a:pPr lvl="1"/>
            <a:r>
              <a:t>1. Connexion au Core Banking → Menu principal → Comptabilité</a:t>
            </a:r>
          </a:p>
          <a:p>
            <a:pPr lvl="1"/>
            <a:r>
              <a:t>2. Lien direct : /accountant (menu latéral selon contexte)</a:t>
            </a:r>
          </a:p>
          <a:p/>
          <a:p>
            <a:pPr>
              <a:defRPr b="1"/>
            </a:pPr>
            <a:r>
              <a:t>Rôles habilités</a:t>
            </a:r>
          </a:p>
          <a:p>
            <a:pPr lvl="1"/>
            <a:r>
              <a:t>• SUPER_ADMIN, ACCOUNTANT, CONSULTANT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52CC"/>
                </a:solidFill>
              </a:rPr>
              <a:t>Vue d’ensemble des écrans (menu Comptabilité)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Plan Comptable</a:t>
            </a:r>
          </a:p>
          <a:p>
            <a:pPr>
              <a:defRPr sz="1500"/>
            </a:pPr>
            <a:r>
              <a:t>• Journaux Comptables</a:t>
            </a:r>
          </a:p>
          <a:p>
            <a:pPr>
              <a:defRPr sz="1500"/>
            </a:pPr>
            <a:r>
              <a:t>• Exercices Comptables</a:t>
            </a:r>
          </a:p>
          <a:p>
            <a:pPr>
              <a:defRPr sz="1500"/>
            </a:pPr>
            <a:r>
              <a:t>• Écriture comptable</a:t>
            </a:r>
          </a:p>
          <a:p>
            <a:pPr>
              <a:defRPr sz="1500"/>
            </a:pPr>
            <a:r>
              <a:t>• Opérations comptes internes</a:t>
            </a:r>
          </a:p>
          <a:p>
            <a:pPr>
              <a:defRPr sz="1500"/>
            </a:pPr>
            <a:r>
              <a:t>• Prélèvement des capitaux</a:t>
            </a:r>
          </a:p>
          <a:p>
            <a:pPr>
              <a:defRPr sz="1500"/>
            </a:pPr>
            <a:r>
              <a:t>• Grand Livre</a:t>
            </a:r>
          </a:p>
          <a:p>
            <a:pPr>
              <a:defRPr sz="1500"/>
            </a:pPr>
            <a:r>
              <a:t>• Balance de Vérification</a:t>
            </a:r>
          </a:p>
          <a:p>
            <a:pPr>
              <a:defRPr sz="1500"/>
            </a:pPr>
            <a:r>
              <a:t>• États Financiers</a:t>
            </a:r>
          </a:p>
          <a:p>
            <a:pPr>
              <a:defRPr sz="1500"/>
            </a:pPr>
            <a:r>
              <a:t>• Réconciliation Bancaire</a:t>
            </a:r>
          </a:p>
          <a:p>
            <a:pPr>
              <a:defRPr sz="1500"/>
            </a:pPr>
            <a:r>
              <a:t>• Réconciliation des Soldes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 Comptable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52CC"/>
                </a:solidFill>
              </a:rPr>
              <a:t>Plan Comptable – Fonctionnalités actuelles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Consultation et recherche</a:t>
            </a:r>
          </a:p>
          <a:p>
            <a:pPr lvl="1"/>
            <a:r>
              <a:t>• Recherche par code ou libellé (temps réel)</a:t>
            </a:r>
          </a:p>
          <a:p>
            <a:pPr lvl="1"/>
            <a:r>
              <a:t>• Affichage en tableau : Code, Libellé, Type, Classe, Actif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Gestion des comptes</a:t>
            </a:r>
          </a:p>
          <a:p>
            <a:pPr lvl="1"/>
            <a:r>
              <a:t>• Nouveau compte : Code, Libellé, Type (Actif, Passif, Produits, Charges, Capitaux), Classe, Compte parent</a:t>
            </a:r>
          </a:p>
          <a:p>
            <a:pPr lvl="1"/>
            <a:r>
              <a:t>• Modifier / Supprimer (sauf comptes système ou utilisés)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Journaux Comptables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52CC"/>
                </a:solidFill>
              </a:rPr>
              <a:t>Journaux Comptables – Fonctionnalités actuelles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Créer un journal : Code unique (ex. BQ, CS), Libellé, Type (STANDARD, CAISSE, BANQUE, OD)</a:t>
            </a:r>
          </a:p>
          <a:p>
            <a:pPr>
              <a:defRPr sz="1500"/>
            </a:pPr>
            <a:r>
              <a:t>• Activer / Désactiver un journal</a:t>
            </a:r>
          </a:p>
          <a:p>
            <a:pPr>
              <a:defRPr sz="1500"/>
            </a:pPr>
            <a:r>
              <a:t>• Modifier libellé et type ; visualiser la séquence des références</a:t>
            </a:r>
          </a:p>
          <a:p>
            <a:pPr>
              <a:defRPr sz="1500"/>
            </a:pPr>
            <a:r>
              <a:t>• Supprimer un journal (si non utilisé)</a:t>
            </a:r>
          </a:p>
          <a:p>
            <a:pPr>
              <a:defRPr sz="1500"/>
            </a:pPr>
            <a:r>
              <a:t>• Référence de pièce : format CODE-SEQUENCE, incrémentée automatiquement à chaque écriture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Exercices Comptables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52CC"/>
                </a:solidFill>
              </a:rPr>
              <a:t>Exercices Comptables – Fonctionnalités actuelles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Cycle de vie</a:t>
            </a:r>
          </a:p>
          <a:p>
            <a:pPr lvl="1"/>
            <a:r>
              <a:t>• Créer : Nom, Date début, Date fin (pas de chevauchement)</a:t>
            </a:r>
          </a:p>
          <a:p>
            <a:pPr lvl="1"/>
            <a:r>
              <a:t>• Création automatique des 12 périodes mensuelles</a:t>
            </a:r>
          </a:p>
          <a:p>
            <a:pPr lvl="1"/>
            <a:r>
              <a:t>• Activer un exercice (un seul actif à la fois)</a:t>
            </a:r>
          </a:p>
          <a:p>
            <a:pPr lvl="1"/>
            <a:r>
              <a:t>• Clôturer : toutes les périodes doivent être clôturées ; irréversible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Tableau et statuts</a:t>
            </a:r>
          </a:p>
          <a:p>
            <a:pPr lvl="1"/>
            <a:r>
              <a:t>• Colonnes : Nom, Date début, Date fin, Statut (Actif / Inactif / Clôturé)</a:t>
            </a:r>
          </a:p>
          <a:p>
            <a:pPr lvl="1"/>
            <a:r>
              <a:t>• Codes couleur : Vert = Actif, Jaune = Inactif, Gris = Clôturé</a:t>
            </a:r>
          </a:p>
          <a:p>
            <a:pPr lvl="1"/>
            <a:r>
              <a:t>• Modifier / Supprimer (désactivé si clôturé ou avec écritures)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Écritures Comptables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52CC"/>
                </a:solidFill>
              </a:rPr>
              <a:t>Écritures – Saisie et filtres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Filtres et consultation</a:t>
            </a:r>
          </a:p>
          <a:p>
            <a:pPr lvl="1"/>
            <a:r>
              <a:t>• Plage de dates (Du / Au) et période comptable</a:t>
            </a:r>
          </a:p>
          <a:p>
            <a:pPr lvl="1"/>
            <a:r>
              <a:t>• Tableau : Référence, Description, Montant, Nb. lignes ; expansion pour voir les lignes</a:t>
            </a:r>
          </a:p>
          <a:p>
            <a:pPr>
              <a:defRPr b="1"/>
            </a:pPr>
            <a:r>
              <a:t>Écriture manuelle</a:t>
            </a:r>
          </a:p>
          <a:p>
            <a:pPr lvl="1"/>
            <a:r>
              <a:t>• Journal, Date, Description, Période</a:t>
            </a:r>
          </a:p>
          <a:p>
            <a:pPr lvl="1"/>
            <a:r>
              <a:t>• Lignes : Compte, Débit, Crédit, Description</a:t>
            </a:r>
          </a:p>
          <a:p>
            <a:pPr lvl="1"/>
            <a:r>
              <a:t>• Règle : Total Débits = Total Crédits ; au moins 2 lignes</a:t>
            </a:r>
          </a:p>
          <a:p>
            <a:pPr lvl="1"/>
            <a:r>
              <a:t>• Référence pièce générée automatiquement (ex. BQ-001)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52CC"/>
                </a:solidFill>
              </a:rPr>
              <a:t>Écritures – Automatiques et composants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Génération automatique</a:t>
            </a:r>
          </a:p>
          <a:p>
            <a:pPr lvl="1"/>
            <a:r>
              <a:t>• Traitement par lots des transactions non encore comptabilisées</a:t>
            </a:r>
          </a:p>
          <a:p>
            <a:pPr lvl="1"/>
            <a:r>
              <a:t>• Une écriture par transaction avec plusieurs lignes (partie double)</a:t>
            </a:r>
          </a:p>
          <a:p>
            <a:pPr>
              <a:defRPr b="1"/>
            </a:pPr>
            <a:r>
              <a:t>Composants de transaction</a:t>
            </a:r>
          </a:p>
          <a:p>
            <a:pPr lvl="1"/>
            <a:r>
              <a:t>• Marge (MARGIN), TAF, Frais (communication, transport, administratifs, assurance, etc.)</a:t>
            </a:r>
          </a:p>
          <a:p>
            <a:pPr lvl="1"/>
            <a:r>
              <a:t>• Reprocessing possible pour mettre à jour les composants et garder la cohérence</a:t>
            </a:r>
          </a:p>
          <a:p>
            <a:pPr lvl="1"/>
            <a:r>
              <a:t>Export : Envoi par mail (Excel)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Opérations sur les comptes internes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52CC"/>
                </a:solidFill>
              </a:rPr>
              <a:t>Opérations comptes internes – Fonctionnalités actuelles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Transfert entre comptes internes</a:t>
            </a:r>
          </a:p>
          <a:p>
            <a:pPr lvl="1"/>
            <a:r>
              <a:t>• Compte source, Compte cible, Montant, Description (optionnelle) → Enregistrer</a:t>
            </a:r>
          </a:p>
          <a:p>
            <a:pPr>
              <a:defRPr b="1"/>
            </a:pPr>
            <a:r>
              <a:t>Historique</a:t>
            </a:r>
          </a:p>
          <a:p>
            <a:pPr lvl="1"/>
            <a:r>
              <a:t>• Filtrage par intervalle de dates</a:t>
            </a:r>
          </a:p>
          <a:p>
            <a:pPr lvl="1"/>
            <a:r>
              <a:t>• Recherche par montant, nom d’agence, etc.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Prélèvement des capitaux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52CC"/>
                </a:solidFill>
              </a:rPr>
              <a:t>Prélèvement des capitaux – Fonctionnalités actuelles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Effectuer un prélèvement</a:t>
            </a:r>
          </a:p>
          <a:p>
            <a:pPr lvl="1"/>
            <a:r>
              <a:t>• Code KYC du client, Compte interne des capitaux, Montant, Description (optionnelle) → Prélever</a:t>
            </a:r>
          </a:p>
          <a:p>
            <a:pPr>
              <a:defRPr b="1"/>
            </a:pPr>
            <a:r>
              <a:t>Historique</a:t>
            </a:r>
          </a:p>
          <a:p>
            <a:pPr lvl="1"/>
            <a:r>
              <a:t>• Filtrage par intervalle de dates</a:t>
            </a:r>
          </a:p>
          <a:p>
            <a:pPr lvl="1"/>
            <a:r>
              <a:t>• Recherche par montant, agence, etc.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Grand Livre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52CC"/>
                </a:solidFill>
              </a:rPr>
              <a:t>Grand Livre – Fonctionnalités actuelles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Filtres</a:t>
            </a:r>
          </a:p>
          <a:p>
            <a:pPr lvl="1"/>
            <a:r>
              <a:t>• Compte (ou Tous), Période, Date début, Date fin → Rechercher / Générer</a:t>
            </a:r>
          </a:p>
          <a:p>
            <a:pPr>
              <a:defRPr b="1"/>
            </a:pPr>
            <a:r>
              <a:t>Affichage</a:t>
            </a:r>
          </a:p>
          <a:p>
            <a:pPr lvl="1"/>
            <a:r>
              <a:t>• Date, Compte, Référence, Description, Débit, Crédit, Solde cumulé</a:t>
            </a:r>
          </a:p>
          <a:p>
            <a:pPr lvl="1"/>
            <a:r>
              <a:t>• Génération pour une période ; export Excel possible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Balance de Vérification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52CC"/>
                </a:solidFill>
              </a:rPr>
              <a:t>Balance de Vérification – Fonctionnalités actuelles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Calcul</a:t>
            </a:r>
          </a:p>
          <a:p>
            <a:pPr lvl="1"/>
            <a:r>
              <a:t>• Sélection de la période → Calculer</a:t>
            </a:r>
          </a:p>
          <a:p>
            <a:pPr lvl="1"/>
            <a:r>
              <a:t>• Soldes de tous les comptes ; totaux Débits / Crédits</a:t>
            </a:r>
          </a:p>
          <a:p>
            <a:pPr>
              <a:defRPr b="1"/>
            </a:pPr>
            <a:r>
              <a:t>Colonnes et équilibre</a:t>
            </a:r>
          </a:p>
          <a:p>
            <a:pPr lvl="1"/>
            <a:r>
              <a:t>• Code, Libellé, Débit/Crédit Ouverture, Débit/Crédit Période, Débit/Crédit Clôture, Solde net</a:t>
            </a:r>
          </a:p>
          <a:p>
            <a:pPr lvl="1"/>
            <a:r>
              <a:t>• Indicateur : Balance équilibrée (vert) si Total Débits = Total Crédits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États Financiers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52CC"/>
                </a:solidFill>
              </a:rPr>
              <a:t>États Financiers – Fonctionnalités actuelles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Bilan</a:t>
            </a:r>
          </a:p>
          <a:p>
            <a:pPr lvl="1"/>
            <a:r>
              <a:t>• Exercice (obligatoire), Période (optionnel) → Générer Bilan ; Actifs, Passifs, Capitaux propres</a:t>
            </a:r>
          </a:p>
          <a:p>
            <a:pPr>
              <a:defRPr b="1"/>
            </a:pPr>
            <a:r>
              <a:t>Compte de résultat</a:t>
            </a:r>
          </a:p>
          <a:p>
            <a:pPr lvl="1"/>
            <a:r>
              <a:t>• Générer Compte de Résultat ; Produits, Charges, Résultat</a:t>
            </a:r>
          </a:p>
          <a:p>
            <a:pPr>
              <a:defRPr b="1"/>
            </a:pPr>
            <a:r>
              <a:t>Flux de trésorerie</a:t>
            </a:r>
          </a:p>
          <a:p>
            <a:pPr lvl="1"/>
            <a:r>
              <a:t>• Générer Flux de Trésorerie</a:t>
            </a:r>
          </a:p>
          <a:p>
            <a:pPr lvl="1"/>
            <a:r>
              <a:t>• Visualiser (détails) ; Approuver un état selon les droits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Réconciliation Bancaire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52CC"/>
                </a:solidFill>
              </a:rPr>
              <a:t>Réconciliation Bancaire – Fonctionnalités actuelles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Créer une réconciliation</a:t>
            </a:r>
          </a:p>
          <a:p>
            <a:pPr lvl="1"/>
            <a:r>
              <a:t>• Compte interne, Exercice, Période, Date du relevé, Solde bancaire, Notes → Enregistrer</a:t>
            </a:r>
          </a:p>
          <a:p>
            <a:pPr lvl="1"/>
            <a:r>
              <a:t>• Solde comptable calculé automatiquement ; écart affiché</a:t>
            </a:r>
          </a:p>
          <a:p>
            <a:pPr>
              <a:defRPr b="1"/>
            </a:pPr>
            <a:r>
              <a:t>Workflow</a:t>
            </a:r>
          </a:p>
          <a:p>
            <a:pPr lvl="1"/>
            <a:r>
              <a:t>• Voir détails (œil) ; Pointage automatique (lien) ; Finaliser (check)</a:t>
            </a:r>
          </a:p>
          <a:p>
            <a:pPr lvl="1"/>
            <a:r>
              <a:t>• Tous les éléments doivent être pointés avant finalisation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Réconciliation des Soldes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52CC"/>
                </a:solidFill>
              </a:rPr>
              <a:t>Réconciliation des Soldes – Fonctionnalités actuelles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Écran dédié au contrôle et à la réconciliation des soldes (comptes internes, cohérence avec le grand livre).</a:t>
            </a:r>
          </a:p>
          <a:p>
            <a:pPr/>
            <a:r>
              <a:t>• Permet d’identifier et de traiter les écarts entre soldes affichés et soldes calculés.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52CC"/>
                </a:solidFill>
              </a:rPr>
              <a:t>Récapitulatif – Bonnes pratiques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Toujours travailler dans l’exercice actif et des périodes non clôturées pour les écritures</a:t>
            </a:r>
          </a:p>
          <a:p>
            <a:pPr>
              <a:defRPr sz="1600"/>
            </a:pPr>
            <a:r>
              <a:t>• Vérifier l’équilibre Débit/Crédit avant d’enregistrer une écriture manuelle</a:t>
            </a:r>
          </a:p>
          <a:p>
            <a:pPr>
              <a:defRPr sz="1600"/>
            </a:pPr>
            <a:r>
              <a:t>• Clôturer les périodes puis l’exercice dans l’ordre ; ne pas modifier un exercice clôturé</a:t>
            </a:r>
          </a:p>
          <a:p>
            <a:pPr>
              <a:defRPr sz="1600"/>
            </a:pPr>
            <a:r>
              <a:t>• Réconcilier les comptes bancaires avant clôture</a:t>
            </a:r>
          </a:p>
          <a:p>
            <a:pPr>
              <a:defRPr sz="1600"/>
            </a:pPr>
            <a:r>
              <a:t>• Utiliser le Grand Livre et la Balance de Vérification pour contrôler avant les états financiers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>
                <a:solidFill>
                  <a:srgbClr val="0052CC"/>
                </a:solidFill>
              </a:rPr>
              <a:t>Des questions ?</a:t>
            </a:r>
          </a:p>
          <a:p/>
          <a:p>
            <a:r>
              <a:rPr sz="3600">
                <a:solidFill>
                  <a:srgbClr val="0052CC"/>
                </a:solidFill>
              </a:rPr>
              <a:t>Merci pour votre attention.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